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9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914400" cy="411480"/>
          </a:xfrm>
          <a:prstGeom prst="roundRect">
            <a:avLst/>
          </a:prstGeom>
          <a:solidFill>
            <a:srgbClr val="18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37744"/>
            <a:ext cx="87782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>
                <a:solidFill>
                  <a:srgbClr val="18243C"/>
                </a:solidFill>
                <a:latin typeface="Aptos Display"/>
              </a:rPr>
              <a:t>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12344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>
                <a:solidFill>
                  <a:srgbClr val="6E645A"/>
                </a:solidFill>
                <a:latin typeface="Aptos"/>
              </a:rPr>
              <a:t>Customer Shopping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110185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46988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400" b="1">
                <a:solidFill>
                  <a:srgbClr val="C89414"/>
                </a:solidFill>
                <a:latin typeface="Aptos"/>
              </a:rPr>
              <a:t>Management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74519"/>
            <a:ext cx="996696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3000" b="1">
                <a:solidFill>
                  <a:srgbClr val="18243C"/>
                </a:solidFill>
                <a:latin typeface="Aptos"/>
              </a:rPr>
              <a:t>Which products, customer segments, and purchase drivers create the highest revenue?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429000"/>
            <a:ext cx="110185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657600"/>
            <a:ext cx="104698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400" b="1">
                <a:solidFill>
                  <a:srgbClr val="C89414"/>
                </a:solidFill>
                <a:latin typeface="Aptos"/>
              </a:rPr>
              <a:t>Business Goal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4343400"/>
            <a:ext cx="2423160" cy="731520"/>
          </a:xfrm>
          <a:prstGeom prst="roundRect">
            <a:avLst/>
          </a:prstGeom>
          <a:solidFill>
            <a:srgbClr val="F6E0A4"/>
          </a:solidFill>
          <a:ln w="9525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8243C"/>
                </a:solidFill>
                <a:latin typeface="Aptos"/>
              </a:rPr>
              <a:t>Increase Sales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4343400"/>
            <a:ext cx="2423160" cy="731520"/>
          </a:xfrm>
          <a:prstGeom prst="roundRect">
            <a:avLst/>
          </a:prstGeom>
          <a:solidFill>
            <a:srgbClr val="F6E0A4"/>
          </a:solidFill>
          <a:ln w="9525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8243C"/>
                </a:solidFill>
                <a:latin typeface="Aptos"/>
              </a:rPr>
              <a:t>Improve Engagement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59" y="4343400"/>
            <a:ext cx="2423160" cy="731520"/>
          </a:xfrm>
          <a:prstGeom prst="roundRect">
            <a:avLst/>
          </a:prstGeom>
          <a:solidFill>
            <a:srgbClr val="F6E0A4"/>
          </a:solidFill>
          <a:ln w="9525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8243C"/>
                </a:solidFill>
                <a:latin typeface="Aptos"/>
              </a:rPr>
              <a:t>Optimize Marketing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4343400"/>
            <a:ext cx="2423160" cy="731520"/>
          </a:xfrm>
          <a:prstGeom prst="roundRect">
            <a:avLst/>
          </a:prstGeom>
          <a:solidFill>
            <a:srgbClr val="F6E0A4"/>
          </a:solidFill>
          <a:ln w="9525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8243C"/>
                </a:solidFill>
                <a:latin typeface="Aptos"/>
              </a:rPr>
              <a:t>Support Product Planning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BC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01968"/>
            <a:ext cx="11201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45A"/>
                </a:solidFill>
                <a:latin typeface="Aptos"/>
              </a:rPr>
              <a:t>Customer Shopping Behavior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9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914400" cy="411480"/>
          </a:xfrm>
          <a:prstGeom prst="roundRect">
            <a:avLst/>
          </a:prstGeom>
          <a:solidFill>
            <a:srgbClr val="18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37744"/>
            <a:ext cx="87782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>
                <a:solidFill>
                  <a:srgbClr val="18243C"/>
                </a:solidFill>
                <a:latin typeface="Aptos Display"/>
              </a:rPr>
              <a:t>Dataset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12344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>
                <a:solidFill>
                  <a:srgbClr val="6E645A"/>
                </a:solidFill>
                <a:latin typeface="Aptos"/>
              </a:rPr>
              <a:t>Customer Shopping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24128"/>
            <a:ext cx="109728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300" b="1">
                <a:solidFill>
                  <a:srgbClr val="483F37"/>
                </a:solidFill>
                <a:latin typeface="Aptos"/>
              </a:rPr>
              <a:t>Source: Kaggle  |  Customer Shopping Behavior Dataset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64208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2240280" cy="63642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3100" b="1">
                <a:solidFill>
                  <a:srgbClr val="C89414"/>
                </a:solidFill>
                <a:latin typeface="Aptos"/>
              </a:rPr>
              <a:t>3,900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2240280" cy="50383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>
                <a:solidFill>
                  <a:srgbClr val="483F37"/>
                </a:solidFill>
                <a:latin typeface="Aptos"/>
              </a:rPr>
              <a:t>Rows / Purchases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664208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828800"/>
            <a:ext cx="2240280" cy="63642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3100" b="1">
                <a:solidFill>
                  <a:srgbClr val="C89414"/>
                </a:solidFill>
                <a:latin typeface="Aptos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377440"/>
            <a:ext cx="2240280" cy="50383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>
                <a:solidFill>
                  <a:srgbClr val="483F37"/>
                </a:solidFill>
                <a:latin typeface="Aptos"/>
              </a:rPr>
              <a:t>Columns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664208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828800"/>
            <a:ext cx="2240280" cy="63642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3100" b="1">
                <a:solidFill>
                  <a:srgbClr val="C89414"/>
                </a:solidFill>
                <a:latin typeface="Aptos"/>
              </a:rPr>
              <a:t>$233K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77440"/>
            <a:ext cx="2240280" cy="50383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>
                <a:solidFill>
                  <a:srgbClr val="483F37"/>
                </a:solidFill>
                <a:latin typeface="Aptos"/>
              </a:rPr>
              <a:t>Total Revenue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1664208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4040" y="1828800"/>
            <a:ext cx="2240280" cy="63642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3100" b="1">
                <a:solidFill>
                  <a:srgbClr val="C89414"/>
                </a:solidFill>
                <a:latin typeface="Aptos"/>
              </a:rPr>
              <a:t>$59.76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2377440"/>
            <a:ext cx="2240280" cy="50383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>
                <a:solidFill>
                  <a:srgbClr val="483F37"/>
                </a:solidFill>
                <a:latin typeface="Aptos"/>
              </a:rPr>
              <a:t>Avg Purchase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319272"/>
            <a:ext cx="3474720" cy="960120"/>
          </a:xfrm>
          <a:prstGeom prst="roundRect">
            <a:avLst/>
          </a:prstGeom>
          <a:solidFill>
            <a:srgbClr val="F6E0A4"/>
          </a:solidFill>
          <a:ln w="12700">
            <a:solidFill>
              <a:srgbClr val="E5C4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529584"/>
            <a:ext cx="310896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400" b="1">
                <a:solidFill>
                  <a:srgbClr val="18243C"/>
                </a:solidFill>
                <a:latin typeface="Aptos"/>
              </a:rPr>
              <a:t>37 Missing Ratings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913632"/>
            <a:ext cx="310896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300" b="1">
                <a:solidFill>
                  <a:srgbClr val="6E645A"/>
                </a:solidFill>
                <a:latin typeface="Aptos"/>
              </a:rPr>
              <a:t>Handled in Python EDA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273552"/>
            <a:ext cx="685800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500" b="1">
                <a:solidFill>
                  <a:srgbClr val="18243C"/>
                </a:solidFill>
                <a:latin typeface="Aptos"/>
              </a:rPr>
              <a:t>Key Fields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767328"/>
            <a:ext cx="1627632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483F37"/>
                </a:solidFill>
                <a:latin typeface="Aptos"/>
              </a:rPr>
              <a:t>Customer 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767328"/>
            <a:ext cx="1627632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483F37"/>
                </a:solidFill>
                <a:latin typeface="Aptos"/>
              </a:rPr>
              <a:t>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767328"/>
            <a:ext cx="1627632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483F37"/>
                </a:solidFill>
                <a:latin typeface="Aptos"/>
              </a:rPr>
              <a:t>Gender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3767328"/>
            <a:ext cx="1627632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483F37"/>
                </a:solidFill>
                <a:latin typeface="Aptos"/>
              </a:rPr>
              <a:t>Category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4334256"/>
            <a:ext cx="1627632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483F37"/>
                </a:solidFill>
                <a:latin typeface="Aptos"/>
              </a:rPr>
              <a:t>Item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334256"/>
            <a:ext cx="1627632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483F37"/>
                </a:solidFill>
                <a:latin typeface="Aptos"/>
              </a:rPr>
              <a:t>Amount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4334256"/>
            <a:ext cx="1627632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483F37"/>
                </a:solidFill>
                <a:latin typeface="Aptos"/>
              </a:rPr>
              <a:t>Season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29800" y="4334256"/>
            <a:ext cx="1627632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483F37"/>
                </a:solidFill>
                <a:latin typeface="Aptos"/>
              </a:rPr>
              <a:t>Subscription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60" y="4901184"/>
            <a:ext cx="1627632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483F37"/>
                </a:solidFill>
                <a:latin typeface="Aptos"/>
              </a:rPr>
              <a:t>Discount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901184"/>
            <a:ext cx="1627632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483F37"/>
                </a:solidFill>
                <a:latin typeface="Aptos"/>
              </a:rPr>
              <a:t>Shipping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4901184"/>
            <a:ext cx="1627632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483F37"/>
                </a:solidFill>
                <a:latin typeface="Aptos"/>
              </a:rPr>
              <a:t>Payment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29800" y="4901184"/>
            <a:ext cx="1627632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483F37"/>
                </a:solidFill>
                <a:latin typeface="Aptos"/>
              </a:rPr>
              <a:t>Review Rating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BC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601968"/>
            <a:ext cx="11201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45A"/>
                </a:solidFill>
                <a:latin typeface="Aptos"/>
              </a:rPr>
              <a:t>Customer Shopping Behavior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9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914400" cy="411480"/>
          </a:xfrm>
          <a:prstGeom prst="roundRect">
            <a:avLst/>
          </a:prstGeom>
          <a:solidFill>
            <a:srgbClr val="18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37744"/>
            <a:ext cx="87782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>
                <a:solidFill>
                  <a:srgbClr val="18243C"/>
                </a:solidFill>
                <a:latin typeface="Aptos Display"/>
              </a:rPr>
              <a:t>Python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12344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>
                <a:solidFill>
                  <a:srgbClr val="6E645A"/>
                </a:solidFill>
                <a:latin typeface="Aptos"/>
              </a:rPr>
              <a:t>Customer Shopping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3375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1" y="1453896"/>
            <a:ext cx="585216" cy="585216"/>
          </a:xfrm>
          <a:prstGeom prst="ellipse">
            <a:avLst/>
          </a:prstGeom>
          <a:solidFill>
            <a:srgbClr val="C89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563624"/>
            <a:ext cx="224028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100" b="1">
                <a:solidFill>
                  <a:srgbClr val="18243C"/>
                </a:solidFill>
                <a:latin typeface="Aptos"/>
              </a:rPr>
              <a:t>Load CSV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234440"/>
            <a:ext cx="33375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99432" y="1453896"/>
            <a:ext cx="585216" cy="585216"/>
          </a:xfrm>
          <a:prstGeom prst="ellipse">
            <a:avLst/>
          </a:prstGeom>
          <a:solidFill>
            <a:srgbClr val="C89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563624"/>
            <a:ext cx="224028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100" b="1">
                <a:solidFill>
                  <a:srgbClr val="18243C"/>
                </a:solidFill>
                <a:latin typeface="Aptos"/>
              </a:rPr>
              <a:t>Inspect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234440"/>
            <a:ext cx="33375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94192" y="1453896"/>
            <a:ext cx="585216" cy="585216"/>
          </a:xfrm>
          <a:prstGeom prst="ellipse">
            <a:avLst/>
          </a:prstGeom>
          <a:solidFill>
            <a:srgbClr val="C89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1563624"/>
            <a:ext cx="224028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100" b="1">
                <a:solidFill>
                  <a:srgbClr val="18243C"/>
                </a:solidFill>
                <a:latin typeface="Aptos"/>
              </a:rPr>
              <a:t>Clean Missing Ratings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07208"/>
            <a:ext cx="33375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1" y="3026664"/>
            <a:ext cx="585216" cy="585216"/>
          </a:xfrm>
          <a:prstGeom prst="ellipse">
            <a:avLst/>
          </a:prstGeom>
          <a:solidFill>
            <a:srgbClr val="C89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36392"/>
            <a:ext cx="224028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100" b="1">
                <a:solidFill>
                  <a:srgbClr val="18243C"/>
                </a:solidFill>
                <a:latin typeface="Aptos"/>
              </a:rPr>
              <a:t>Create Age Groups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2807208"/>
            <a:ext cx="33375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99432" y="3026664"/>
            <a:ext cx="585216" cy="585216"/>
          </a:xfrm>
          <a:prstGeom prst="ellipse">
            <a:avLst/>
          </a:prstGeom>
          <a:solidFill>
            <a:srgbClr val="C89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136392"/>
            <a:ext cx="224028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100" b="1">
                <a:solidFill>
                  <a:srgbClr val="18243C"/>
                </a:solidFill>
                <a:latin typeface="Aptos"/>
              </a:rPr>
              <a:t>Analyze Trends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807208"/>
            <a:ext cx="33375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94192" y="3026664"/>
            <a:ext cx="585216" cy="585216"/>
          </a:xfrm>
          <a:prstGeom prst="ellipse">
            <a:avLst/>
          </a:prstGeom>
          <a:solidFill>
            <a:srgbClr val="C89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3136392"/>
            <a:ext cx="224028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100" b="1">
                <a:solidFill>
                  <a:srgbClr val="18243C"/>
                </a:solidFill>
                <a:latin typeface="Aptos"/>
              </a:rPr>
              <a:t>Export Clean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800600"/>
            <a:ext cx="10972800" cy="1005840"/>
          </a:xfrm>
          <a:prstGeom prst="roundRect">
            <a:avLst/>
          </a:prstGeom>
          <a:solidFill>
            <a:srgbClr val="F6E0A4"/>
          </a:solidFill>
          <a:ln w="12700">
            <a:solidFill>
              <a:srgbClr val="E5C4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001768"/>
            <a:ext cx="192024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300" b="1">
                <a:solidFill>
                  <a:srgbClr val="18243C"/>
                </a:solidFill>
                <a:latin typeface="Aptos"/>
              </a:rPr>
              <a:t>EDA Outputs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5001768"/>
            <a:ext cx="841248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200" b="1">
                <a:solidFill>
                  <a:srgbClr val="483F37"/>
                </a:solidFill>
                <a:latin typeface="Aptos"/>
              </a:rPr>
              <a:t>Category Revenue  |  Age Groups  |  Subscription Split  |  Discounts  |  Shipping  |  Season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BC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601968"/>
            <a:ext cx="11201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45A"/>
                </a:solidFill>
                <a:latin typeface="Aptos"/>
              </a:rPr>
              <a:t>Customer Shopping Behavior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9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914400" cy="411480"/>
          </a:xfrm>
          <a:prstGeom prst="roundRect">
            <a:avLst/>
          </a:prstGeom>
          <a:solidFill>
            <a:srgbClr val="18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37744"/>
            <a:ext cx="87782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>
                <a:solidFill>
                  <a:srgbClr val="18243C"/>
                </a:solidFill>
                <a:latin typeface="Aptos Display"/>
              </a:rPr>
              <a:t>SQL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12344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>
                <a:solidFill>
                  <a:srgbClr val="6E645A"/>
                </a:solidFill>
                <a:latin typeface="Aptos"/>
              </a:rPr>
              <a:t>Customer Shopping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652760" cy="658368"/>
          </a:xfrm>
          <a:prstGeom prst="rect">
            <a:avLst/>
          </a:prstGeom>
          <a:solidFill>
            <a:srgbClr val="18243C"/>
          </a:solidFill>
          <a:ln w="12700">
            <a:solidFill>
              <a:srgbClr val="18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80160"/>
            <a:ext cx="48463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Business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280160"/>
            <a:ext cx="5074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SQL Output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01368"/>
            <a:ext cx="10652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56816"/>
            <a:ext cx="48920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483F37"/>
                </a:solidFill>
                <a:latin typeface="Aptos"/>
              </a:rPr>
              <a:t>Total revenue &amp; average purchase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956816"/>
            <a:ext cx="5120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18243C"/>
                </a:solidFill>
                <a:latin typeface="Aptos"/>
              </a:rPr>
              <a:t>$233K revenue  |  $59.76 avg purchase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459736"/>
            <a:ext cx="10652760" cy="658368"/>
          </a:xfrm>
          <a:prstGeom prst="rect">
            <a:avLst/>
          </a:prstGeom>
          <a:solidFill>
            <a:srgbClr val="FFFBF2"/>
          </a:solidFill>
          <a:ln w="12700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15184"/>
            <a:ext cx="48920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483F37"/>
                </a:solidFill>
                <a:latin typeface="Aptos"/>
              </a:rPr>
              <a:t>Revenue and sales by category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615184"/>
            <a:ext cx="5120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18243C"/>
                </a:solidFill>
                <a:latin typeface="Aptos"/>
              </a:rPr>
              <a:t>Clothing leads category performance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18104"/>
            <a:ext cx="10652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273552"/>
            <a:ext cx="48920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483F37"/>
                </a:solidFill>
                <a:latin typeface="Aptos"/>
              </a:rPr>
              <a:t>Subscription status split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273552"/>
            <a:ext cx="5120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18243C"/>
                </a:solidFill>
                <a:latin typeface="Aptos"/>
              </a:rPr>
              <a:t>27% subscribed  |  73% non-subscribed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776472"/>
            <a:ext cx="10652760" cy="658368"/>
          </a:xfrm>
          <a:prstGeom prst="rect">
            <a:avLst/>
          </a:prstGeom>
          <a:solidFill>
            <a:srgbClr val="FFFBF2"/>
          </a:solidFill>
          <a:ln w="12700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931920"/>
            <a:ext cx="48920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483F37"/>
                </a:solidFill>
                <a:latin typeface="Aptos"/>
              </a:rPr>
              <a:t>Discount impact on spend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3931920"/>
            <a:ext cx="5120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18243C"/>
                </a:solidFill>
                <a:latin typeface="Aptos"/>
              </a:rPr>
              <a:t>No-discount avg spend is higher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434840"/>
            <a:ext cx="10652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590288"/>
            <a:ext cx="48920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483F37"/>
                </a:solidFill>
                <a:latin typeface="Aptos"/>
              </a:rPr>
              <a:t>Shipping and season performance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590288"/>
            <a:ext cx="5120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18243C"/>
                </a:solidFill>
                <a:latin typeface="Aptos"/>
              </a:rPr>
              <a:t>2-Day / Express strong  |  Fall strongest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093208"/>
            <a:ext cx="10652760" cy="658368"/>
          </a:xfrm>
          <a:prstGeom prst="rect">
            <a:avLst/>
          </a:prstGeom>
          <a:solidFill>
            <a:srgbClr val="FFFBF2"/>
          </a:solidFill>
          <a:ln w="12700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48920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483F37"/>
                </a:solidFill>
                <a:latin typeface="Aptos"/>
              </a:rPr>
              <a:t>Dashboard KPI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5248656"/>
            <a:ext cx="5120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18243C"/>
                </a:solidFill>
                <a:latin typeface="Aptos"/>
              </a:rPr>
              <a:t>SQL totals matched Power BI cards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BC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601968"/>
            <a:ext cx="11201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45A"/>
                </a:solidFill>
                <a:latin typeface="Aptos"/>
              </a:rPr>
              <a:t>Customer Shopping Behavior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9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914400" cy="411480"/>
          </a:xfrm>
          <a:prstGeom prst="roundRect">
            <a:avLst/>
          </a:prstGeom>
          <a:solidFill>
            <a:srgbClr val="18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37744"/>
            <a:ext cx="87782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>
                <a:solidFill>
                  <a:srgbClr val="18243C"/>
                </a:solidFill>
                <a:latin typeface="Aptos Display"/>
              </a:rPr>
              <a:t>Power BI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12344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>
                <a:solidFill>
                  <a:srgbClr val="6E645A"/>
                </a:solidFill>
                <a:latin typeface="Aptos"/>
              </a:rPr>
              <a:t>Customer Shopping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941832"/>
            <a:ext cx="1106424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-4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037" y="1078992"/>
            <a:ext cx="9388021" cy="509320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8680" y="6016752"/>
            <a:ext cx="2240280" cy="347472"/>
          </a:xfrm>
          <a:prstGeom prst="roundRect">
            <a:avLst/>
          </a:prstGeom>
          <a:solidFill>
            <a:srgbClr val="EEE5FF"/>
          </a:solidFill>
          <a:ln w="9525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703BB0"/>
                </a:solidFill>
                <a:latin typeface="Aptos"/>
              </a:rPr>
              <a:t>KPI Cards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6016752"/>
            <a:ext cx="2240280" cy="347472"/>
          </a:xfrm>
          <a:prstGeom prst="roundRect">
            <a:avLst/>
          </a:prstGeom>
          <a:solidFill>
            <a:srgbClr val="EEE5FF"/>
          </a:solidFill>
          <a:ln w="9525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703BB0"/>
                </a:solidFill>
                <a:latin typeface="Aptos"/>
              </a:rPr>
              <a:t>Slicers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6016752"/>
            <a:ext cx="2240280" cy="347472"/>
          </a:xfrm>
          <a:prstGeom prst="roundRect">
            <a:avLst/>
          </a:prstGeom>
          <a:solidFill>
            <a:srgbClr val="EEE5FF"/>
          </a:solidFill>
          <a:ln w="9525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703BB0"/>
                </a:solidFill>
                <a:latin typeface="Aptos"/>
              </a:rPr>
              <a:t>Category Charts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6016752"/>
            <a:ext cx="2240280" cy="347472"/>
          </a:xfrm>
          <a:prstGeom prst="roundRect">
            <a:avLst/>
          </a:prstGeom>
          <a:solidFill>
            <a:srgbClr val="EEE5FF"/>
          </a:solidFill>
          <a:ln w="9525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703BB0"/>
                </a:solidFill>
                <a:latin typeface="Aptos"/>
              </a:rPr>
              <a:t>Age Segment Charts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BC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11201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45A"/>
                </a:solidFill>
                <a:latin typeface="Aptos"/>
              </a:rPr>
              <a:t>Customer Shopping Behavior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9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914400" cy="411480"/>
          </a:xfrm>
          <a:prstGeom prst="roundRect">
            <a:avLst/>
          </a:prstGeom>
          <a:solidFill>
            <a:srgbClr val="18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37744"/>
            <a:ext cx="87782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>
                <a:solidFill>
                  <a:srgbClr val="18243C"/>
                </a:solidFill>
                <a:latin typeface="Aptos Display"/>
              </a:rPr>
              <a:t>Key Insights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12344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>
                <a:solidFill>
                  <a:srgbClr val="6E645A"/>
                </a:solidFill>
                <a:latin typeface="Aptos"/>
              </a:rPr>
              <a:t>Customer Shopping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553212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55080" y="1143000"/>
            <a:ext cx="52578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C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8463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300" b="1">
                <a:solidFill>
                  <a:srgbClr val="18243C"/>
                </a:solidFill>
                <a:latin typeface="Aptos"/>
              </a:rPr>
              <a:t>Key Insights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856232"/>
            <a:ext cx="594360" cy="54864"/>
          </a:xfrm>
          <a:prstGeom prst="rect">
            <a:avLst/>
          </a:prstGeom>
          <a:solidFill>
            <a:srgbClr val="C89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892040" cy="352044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483F37"/>
                </a:solidFill>
                <a:latin typeface="Aptos"/>
              </a:rPr>
              <a:t>• Clothing: $104K | 1,737 orders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483F37"/>
                </a:solidFill>
                <a:latin typeface="Aptos"/>
              </a:rPr>
              <a:t>• Accessories: $74K | 1,240 orders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483F37"/>
                </a:solidFill>
                <a:latin typeface="Aptos"/>
              </a:rPr>
              <a:t>• Subscription: 27% customers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483F37"/>
                </a:solidFill>
                <a:latin typeface="Aptos"/>
              </a:rPr>
              <a:t>• Fall: $60K highest revenue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483F37"/>
                </a:solidFill>
                <a:latin typeface="Aptos"/>
              </a:rPr>
              <a:t>• No-discount avg spend: $60.13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417320"/>
            <a:ext cx="457200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300" b="1">
                <a:solidFill>
                  <a:srgbClr val="18243C"/>
                </a:solidFill>
                <a:latin typeface="Aptos"/>
              </a:rPr>
              <a:t>Recommendations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1856232"/>
            <a:ext cx="594360" cy="54864"/>
          </a:xfrm>
          <a:prstGeom prst="rect">
            <a:avLst/>
          </a:prstGeom>
          <a:solidFill>
            <a:srgbClr val="C89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057400"/>
            <a:ext cx="4572000" cy="352044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483F37"/>
                </a:solidFill>
                <a:latin typeface="Aptos"/>
              </a:rPr>
              <a:t>• Bundle Clothing + Accessories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483F37"/>
                </a:solidFill>
                <a:latin typeface="Aptos"/>
              </a:rPr>
              <a:t>• Improve subscription benefits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483F37"/>
                </a:solidFill>
                <a:latin typeface="Aptos"/>
              </a:rPr>
              <a:t>• Use targeted discounts only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483F37"/>
                </a:solidFill>
                <a:latin typeface="Aptos"/>
              </a:rPr>
              <a:t>• Promote fast shipping options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483F37"/>
                </a:solidFill>
                <a:latin typeface="Aptos"/>
              </a:rPr>
              <a:t>• Plan inventory before Fall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BC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601968"/>
            <a:ext cx="11201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45A"/>
                </a:solidFill>
                <a:latin typeface="Aptos"/>
              </a:rPr>
              <a:t>Customer Shopping Behavior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 - Simplified 6 Slide Deck</dc:title>
  <dc:subject>End-to-end data analytics project summary</dc:subject>
  <dc:creator>OpenAI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